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8"/>
  </p:normalViewPr>
  <p:slideViewPr>
    <p:cSldViewPr snapToGrid="0" snapToObjects="1">
      <p:cViewPr varScale="1">
        <p:scale>
          <a:sx n="122" d="100"/>
          <a:sy n="122" d="100"/>
        </p:scale>
        <p:origin x="2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237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 projeto: StockFlow é um sistema web de controle de recebimento de mercadorias. O problema que ele resolve: depósitos e almoxarifados ainda fazem conferência manual de NF-e, gerando divergências não rastreadas. O StockFlow digitaliza esse processo com rastreabilidade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Focar no problema real: recebimento de mercadorias é crítico, mas ainda é manual na maioria das empresas. Citar exemplo: uma caixa de cerveja com 24 unidades, conferente conta 23 — sem sistema, isso some. Com StockFlow, isso gera uma recontagem automática e, se persistir, um bloqueio para auditoria.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Percorrer o fluxo da esquerda para a direita. Destacar que tudo acontece em tempo real: quando o admin importa o XML, o conferente já vê na tela. Quando o conferente grava, o dashboard atualiza instantaneamente via Firestore listeners (onSnapshot).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Destacar a separação em camadas: a UI (HTML + CSS) nunca chama o Firebase diretamente. Ela chama services, que chamam o Firebase. Isso facilita manutenção, teste e troca de tecnologia. O state.js é um objeto global simples que guarda o papel e e-mail do usuário logado.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Destacar o Promise.all: se a NF tem 30 itens, todos são gravados simultaneamente no Firestore. Sem isso, seriam 30 chamadas sequenciais (lento). Com Promise.all, são praticamente simultâneas. O DOMParser é uma API nativa do browser — não precisamos de nenhuma biblioteca para ler 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é a lógica central do sistema. A decisão segue uma hierarquia clara: 1. Admin pode aprovar qualquer coisa. 2. Se a contagem bate, aprova. 3. Se é a segunda tentativa errada, bloqueia. 4. Caso contrário, manda recontagem. Cada resultado retorna um objeto descritivo, e a UI decide o que mostrar ao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Dois perfis: admin e conferente. A separação acontece no frontend com classList.toggle('hidden'). No authService, ao detectar o login, buscamos o documento /usuarios/{uid} no Firestore para saber o role. Isso significa que um admin pode revogar acesso de qualquer usuário simplesmente deletando o documento — sem precisar mexer no Firebase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um dos pontos mais fortes do projeto: sem polling. O Firestore usa WebSockets por baixo — quando qualquer documento muda, todos os listeners são notificados. No código, o onSnapshot recebe o snapshot completo da query e a UI re-renderiza. Isso funciona para múltiplos usuários simultâneos: 5 conferentes abrindo o sistema ao mesmo tempo verão exatamente o mesmo estado em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que o projeto usa ES Modules nativos do browser — sem Webpack, sem bundler, sem Node.js. Isso simplifica o desenvolvimento mas requer um servidor HTTP. Para produção, o Firebase Hosting é gratuito para projetos pequenos e já tem CDN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Encerrar com o ponto mais importante: o StockFlow não é só um projeto de faculdade — ele resolve um problema real que qualquer empresa com estoque enfrenta. A arquitetura em camadas facilita adicionar qualquer item do roadmap sem reescrever o que já existe. Perguntas sobre qualquer parte do código são bem-vindas.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109728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Block Arc 4"/>
          <p:cNvSpPr/>
          <p:nvPr/>
        </p:nvSpPr>
        <p:spPr>
          <a:xfrm>
            <a:off x="457200" y="1280160"/>
            <a:ext cx="11731752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SISTEMA DE CONTROLE DE RECEBIMENTO ·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mbria"/>
              </a:rPr>
              <a:t>StockFlow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4D8"/>
                </a:solidFill>
                <a:latin typeface="Calibri"/>
              </a:rPr>
              <a:t>Conferência inteligente de NF-e com
rastreabilidade em tempo real via Firebase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31920"/>
            <a:ext cx="996696" cy="256032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0158" y="3945635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0C4D8"/>
                </a:solidFill>
                <a:latin typeface="Calibri"/>
              </a:rPr>
              <a:t>JAVASCRIPT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3931920"/>
            <a:ext cx="841248" cy="256032"/>
          </a:xfrm>
          <a:prstGeom prst="rect">
            <a:avLst/>
          </a:prstGeom>
          <a:solidFill>
            <a:srgbClr val="1A3455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1446" y="3945635"/>
            <a:ext cx="8412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0C4D8"/>
                </a:solidFill>
                <a:latin typeface="Calibri"/>
              </a:rPr>
              <a:t>FIREBASE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4368" y="3931920"/>
            <a:ext cx="918971" cy="256032"/>
          </a:xfrm>
          <a:prstGeom prst="rect">
            <a:avLst/>
          </a:prstGeom>
          <a:solidFill>
            <a:srgbClr val="1A3455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7286" y="3945635"/>
            <a:ext cx="9189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B0C4D8"/>
                </a:solidFill>
                <a:latin typeface="Calibri"/>
              </a:rPr>
              <a:t>FIRESTORE</a:t>
            </a:r>
          </a:p>
        </p:txBody>
      </p:sp>
      <p:sp>
        <p:nvSpPr>
          <p:cNvPr id="15" name="Block Arc 14"/>
          <p:cNvSpPr/>
          <p:nvPr/>
        </p:nvSpPr>
        <p:spPr>
          <a:xfrm>
            <a:off x="777240" y="594360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A8A"/>
                </a:solidFill>
                <a:latin typeface="Calibri"/>
              </a:rPr>
              <a:t>Apresentação Técnica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A6A8A"/>
                </a:solidFill>
                <a:latin typeface="Calibri"/>
              </a:rPr>
              <a:t>v1.0</a:t>
            </a:r>
          </a:p>
        </p:txBody>
      </p:sp>
      <p:sp>
        <p:nvSpPr>
          <p:cNvPr id="18" name="Oval 17"/>
          <p:cNvSpPr/>
          <p:nvPr/>
        </p:nvSpPr>
        <p:spPr>
          <a:xfrm>
            <a:off x="11713464" y="146304"/>
            <a:ext cx="164592" cy="164592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384280" y="182880"/>
            <a:ext cx="91440" cy="91440"/>
          </a:xfrm>
          <a:prstGeom prst="ellipse">
            <a:avLst/>
          </a:prstGeom>
          <a:solidFill>
            <a:srgbClr val="1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O problema</a:t>
            </a:r>
          </a:p>
        </p:txBody>
      </p:sp>
      <p:sp>
        <p:nvSpPr>
          <p:cNvPr id="6" name="Block Arc 5"/>
          <p:cNvSpPr/>
          <p:nvPr/>
        </p:nvSpPr>
        <p:spPr>
          <a:xfrm>
            <a:off x="777240" y="1325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3520440" cy="256032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00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Conferência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70048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Contagem feita à mão, sem registro. Qualquer divergência se perde.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9431" y="1554480"/>
            <a:ext cx="3520440" cy="256032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599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00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599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Sem rastreabilidade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9" y="2670048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Não há histórico de quem conferiu, quando, ou quantas tentativas foram feitas.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21624" y="1554480"/>
            <a:ext cx="3520440" cy="256032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22792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00"/>
                </a:solidFill>
                <a:latin typeface="Cambr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Retrabalho sem critério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2670048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Uma segunda contagem não tem regra. Itens bloqueados somem do processo.</a:t>
            </a:r>
          </a:p>
        </p:txBody>
      </p:sp>
      <p:sp>
        <p:nvSpPr>
          <p:cNvPr id="19" name="Block Arc 18"/>
          <p:cNvSpPr/>
          <p:nvPr/>
        </p:nvSpPr>
        <p:spPr>
          <a:xfrm>
            <a:off x="777240" y="457200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6A8A"/>
                </a:solidFill>
                <a:latin typeface="Calibri"/>
              </a:rPr>
              <a:t>Resultado: perdas não quantificadas, auditorias impossíveis, estoque desatualizado.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Como funciona</a:t>
            </a:r>
          </a:p>
        </p:txBody>
      </p:sp>
      <p:sp>
        <p:nvSpPr>
          <p:cNvPr id="6" name="Block Arc 5"/>
          <p:cNvSpPr/>
          <p:nvPr/>
        </p:nvSpPr>
        <p:spPr>
          <a:xfrm>
            <a:off x="777240" y="1325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00200"/>
            <a:ext cx="2029968" cy="292608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00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Upload XML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Admin importa a NF-e
em formato XML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788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34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26664" y="1600200"/>
            <a:ext cx="2029968" cy="292608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63824" y="17373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00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Criação do lote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25786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Itens entram no
Firestore automaticamente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1496" y="2788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345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76088" y="1600200"/>
            <a:ext cx="2029968" cy="292608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17373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00"/>
                </a:solidFill>
                <a:latin typeface="Cambr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Conferência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5786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Conferente conta e
informa a validade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788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3455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25512" y="1600200"/>
            <a:ext cx="2029968" cy="292608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62672" y="17373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00"/>
                </a:solidFill>
                <a:latin typeface="Cambr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Validação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25786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Sistema compara com
a quantidade esperada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27889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3455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74936" y="1600200"/>
            <a:ext cx="2029968" cy="2926080"/>
          </a:xfrm>
          <a:prstGeom prst="rect">
            <a:avLst/>
          </a:prstGeom>
          <a:solidFill>
            <a:srgbClr val="0D1E3A"/>
          </a:solidFill>
          <a:ln w="9525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12096" y="17373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00"/>
                </a:solidFill>
                <a:latin typeface="Cambr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2176272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Estoque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25786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Aprovado: entrada
auditada no estoque</a:t>
            </a:r>
          </a:p>
        </p:txBody>
      </p:sp>
      <p:sp>
        <p:nvSpPr>
          <p:cNvPr id="31" name="Block Arc 30"/>
          <p:cNvSpPr/>
          <p:nvPr/>
        </p:nvSpPr>
        <p:spPr>
          <a:xfrm>
            <a:off x="777240" y="4754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TRATAMENTO DE DIVERGÊNCIA</a:t>
            </a:r>
          </a:p>
        </p:txBody>
      </p:sp>
      <p:sp>
        <p:nvSpPr>
          <p:cNvPr id="33" name="Oval 32"/>
          <p:cNvSpPr/>
          <p:nvPr/>
        </p:nvSpPr>
        <p:spPr>
          <a:xfrm>
            <a:off x="845819" y="549097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1" y="5404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1ª divergência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5687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Status muda para RECONTAGEM. Conferente tenta novamente.</a:t>
            </a:r>
          </a:p>
        </p:txBody>
      </p:sp>
      <p:sp>
        <p:nvSpPr>
          <p:cNvPr id="36" name="Oval 35"/>
          <p:cNvSpPr/>
          <p:nvPr/>
        </p:nvSpPr>
        <p:spPr>
          <a:xfrm>
            <a:off x="4649724" y="5490972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37176" y="5404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2ª divergência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37176" y="5687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Item bloqueado para auditoria (BLOQUEADO_AUDITORIA).</a:t>
            </a:r>
          </a:p>
        </p:txBody>
      </p:sp>
      <p:sp>
        <p:nvSpPr>
          <p:cNvPr id="39" name="Oval 38"/>
          <p:cNvSpPr/>
          <p:nvPr/>
        </p:nvSpPr>
        <p:spPr>
          <a:xfrm>
            <a:off x="8453628" y="5490972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41080" y="5404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Admin intervém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56875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Administrador pode aprovar ou rejeitar manualmente.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Estrutura do projeto</a:t>
            </a:r>
          </a:p>
        </p:txBody>
      </p:sp>
      <p:sp>
        <p:nvSpPr>
          <p:cNvPr id="6" name="Block Arc 5"/>
          <p:cNvSpPr/>
          <p:nvPr/>
        </p:nvSpPr>
        <p:spPr>
          <a:xfrm>
            <a:off x="777240" y="1325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81328"/>
            <a:ext cx="6858000" cy="685800"/>
          </a:xfrm>
          <a:prstGeom prst="rect">
            <a:avLst/>
          </a:prstGeom>
          <a:solidFill>
            <a:srgbClr val="0D2A4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8"/>
                </a:solidFill>
                <a:latin typeface="Calibri"/>
              </a:rPr>
              <a:t>UI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184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index.html · css/styles.css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762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455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86000"/>
            <a:ext cx="6858000" cy="685800"/>
          </a:xfrm>
          <a:prstGeom prst="rect">
            <a:avLst/>
          </a:prstGeom>
          <a:solidFill>
            <a:srgbClr val="0D2A4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8"/>
                </a:solidFill>
                <a:latin typeface="Calibri"/>
              </a:rPr>
              <a:t>UI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423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ui/tabs.js · ui/dashboard.js · ui/conferencia.js · ui/modalUsuarios.js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980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455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90672"/>
            <a:ext cx="6858000" cy="685800"/>
          </a:xfrm>
          <a:prstGeom prst="rect">
            <a:avLst/>
          </a:prstGeom>
          <a:solidFill>
            <a:srgbClr val="0A1E38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16382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8"/>
                </a:solidFill>
                <a:latin typeface="Calibri"/>
              </a:rP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2783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authService · recebimentoService · estoqueService · logService · usuarioService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78561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455"/>
                </a:solidFill>
                <a:latin typeface="Calibr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895344"/>
            <a:ext cx="6858000" cy="685800"/>
          </a:xfrm>
          <a:prstGeom prst="rect">
            <a:avLst/>
          </a:prstGeom>
          <a:solidFill>
            <a:srgbClr val="071428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96849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8"/>
                </a:solidFill>
                <a:latin typeface="Calibri"/>
              </a:rPr>
              <a:t>Config /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325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firebase.js · state.js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5902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3455"/>
                </a:solidFill>
                <a:latin typeface="Calibri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700016"/>
            <a:ext cx="6858000" cy="685800"/>
          </a:xfrm>
          <a:prstGeom prst="rect">
            <a:avLst/>
          </a:prstGeom>
          <a:solidFill>
            <a:srgbClr val="FF6B00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7731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Firebase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37176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Authentication · Firestore · Hosting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4813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PADRÕES APLICADOS</a:t>
            </a:r>
          </a:p>
        </p:txBody>
      </p:sp>
      <p:sp>
        <p:nvSpPr>
          <p:cNvPr id="27" name="Oval 26"/>
          <p:cNvSpPr/>
          <p:nvPr/>
        </p:nvSpPr>
        <p:spPr>
          <a:xfrm>
            <a:off x="8289036" y="1860803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1783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 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057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Cada arquivo é um módulo com import/export explícito</a:t>
            </a:r>
          </a:p>
        </p:txBody>
      </p:sp>
      <p:sp>
        <p:nvSpPr>
          <p:cNvPr id="30" name="Oval 29"/>
          <p:cNvSpPr/>
          <p:nvPr/>
        </p:nvSpPr>
        <p:spPr>
          <a:xfrm>
            <a:off x="8289036" y="2702052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26243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Service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8986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Toda lógica de dados isolada em services, sem tocar no DOM</a:t>
            </a:r>
          </a:p>
        </p:txBody>
      </p:sp>
      <p:sp>
        <p:nvSpPr>
          <p:cNvPr id="33" name="Oval 32"/>
          <p:cNvSpPr/>
          <p:nvPr/>
        </p:nvSpPr>
        <p:spPr>
          <a:xfrm>
            <a:off x="8289036" y="3543300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20" y="34655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Realtime Listeners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73989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onSnapshot atualiza a UI automaticamente ao mudar o Firestore</a:t>
            </a:r>
          </a:p>
        </p:txBody>
      </p:sp>
      <p:sp>
        <p:nvSpPr>
          <p:cNvPr id="36" name="Oval 35"/>
          <p:cNvSpPr/>
          <p:nvPr/>
        </p:nvSpPr>
        <p:spPr>
          <a:xfrm>
            <a:off x="8289036" y="4384548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43068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Role-based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58114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Admin e conferente têm UIs distintas sem código duplicado</a:t>
            </a:r>
          </a:p>
        </p:txBody>
      </p:sp>
      <p:sp>
        <p:nvSpPr>
          <p:cNvPr id="39" name="Oval 38"/>
          <p:cNvSpPr/>
          <p:nvPr/>
        </p:nvSpPr>
        <p:spPr>
          <a:xfrm>
            <a:off x="8289036" y="5225796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5148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4223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Cada ação grava log automático com usuário e timestamp</a:t>
            </a:r>
          </a:p>
        </p:txBody>
      </p:sp>
      <p:sp>
        <p:nvSpPr>
          <p:cNvPr id="42" name="Block Arc 41"/>
          <p:cNvSpPr/>
          <p:nvPr/>
        </p:nvSpPr>
        <p:spPr>
          <a:xfrm>
            <a:off x="8001000" y="1481328"/>
            <a:ext cx="0" cy="3977639"/>
          </a:xfrm>
          <a:prstGeom prst="blockArc">
            <a:avLst/>
          </a:prstGeom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CÓDIGO EM DESTAQUE · RECEBIMENTOSERVICE.JS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Importação de NF-e</a:t>
            </a:r>
          </a:p>
        </p:txBody>
      </p:sp>
      <p:sp>
        <p:nvSpPr>
          <p:cNvPr id="6" name="Block Arc 5"/>
          <p:cNvSpPr/>
          <p:nvPr/>
        </p:nvSpPr>
        <p:spPr>
          <a:xfrm>
            <a:off x="777240" y="1325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858000" cy="5074920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6537960" cy="4800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DD3FC"/>
                </a:solidFill>
                <a:latin typeface="Courier New"/>
              </a:rPr>
              <a:t>export async function importarXML(xmlText) {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parser = new DOMParser();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xml    = parser.parseFromString(xmlText, "text/xml");</a:t>
            </a:r>
          </a:p>
          <a:p>
            <a:endParaRPr sz="1050">
              <a:solidFill>
                <a:srgbClr val="7DD3FC"/>
              </a:solidFill>
              <a:latin typeface="Courier New"/>
            </a:endParaRP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nNF  = xml.getElementsByTagName("nNF")[0]?.textContent;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forn = xml.getElementsByTagName("xNome")[0]?.textContent.toUpperCase();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lote = "L" + Date.now().toString().slice(-5);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itens = xml.getElementsByTagName("det");</a:t>
            </a:r>
          </a:p>
          <a:p>
            <a:endParaRPr sz="1050">
              <a:solidFill>
                <a:srgbClr val="7DD3FC"/>
              </a:solidFill>
              <a:latin typeface="Courier New"/>
            </a:endParaRPr>
          </a:p>
          <a:p>
            <a:r>
              <a:rPr sz="1050">
                <a:solidFill>
                  <a:srgbClr val="4A6A8A"/>
                </a:solidFill>
                <a:latin typeface="Courier New"/>
              </a:rPr>
              <a:t>    // Cria todos os documentos no Firestore em paralelo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promises = [];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for (let i = 0; i &lt; itens.length; i++) {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    promises.push(addDoc(collection(db, "recebimentos"), {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        lote, nf: nNF, fornecedor: forn,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        produto:     itens[i].getElementsByTagName("xProd")[0]?.textContent,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        qtdEsperada: parseFloat(itens[i].getElementsByTagName("qCom")[0]?.textContent),</a:t>
            </a:r>
          </a:p>
          <a:p>
            <a:r>
              <a:rPr sz="1050">
                <a:solidFill>
                  <a:srgbClr val="10B981"/>
                </a:solidFill>
                <a:latin typeface="Courier New"/>
              </a:rPr>
              <a:t>            status: "PENDENTE", tentativas: 0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    }));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}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await Promise.all(promises);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508760"/>
            <a:ext cx="3886200" cy="100584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28431" y="15819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Calibri"/>
              </a:rPr>
              <a:t>DOMParser nativo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892807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Sem dependência externa.
O browser já parseia XML.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679191"/>
            <a:ext cx="3886200" cy="100584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28431" y="275234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Calibri"/>
              </a:rPr>
              <a:t>Promise.all()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306323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Todos os itens gravados
em paralelo, não sequencial.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849624"/>
            <a:ext cx="3886200" cy="100584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28431" y="392277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Calibri"/>
              </a:rPr>
              <a:t>Optional chaining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42336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?.textContent evita crash
em tags ausentes.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5020056"/>
            <a:ext cx="3886200" cy="1005840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28431" y="5093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Calibri"/>
              </a:rPr>
              <a:t>Lote automático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540410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ID único gerado com
timestamp do momento.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CÓDIGO EM DESTAQUE · LÓGICA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Motor de conferência</a:t>
            </a:r>
          </a:p>
        </p:txBody>
      </p:sp>
      <p:sp>
        <p:nvSpPr>
          <p:cNvPr id="6" name="Block Arc 5"/>
          <p:cNvSpPr/>
          <p:nvPr/>
        </p:nvSpPr>
        <p:spPr>
          <a:xfrm>
            <a:off x="777240" y="1325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858000" cy="4800600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6537960" cy="4526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DD3FC"/>
                </a:solidFill>
                <a:latin typeface="Courier New"/>
              </a:rPr>
              <a:t>export async function gravarConferencia(item, qtd, validade) {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novaTentativa = (item.tentativas || 0) + 1;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isAdmin       = state.currentUserRole === "admin";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const isCorreto     = qtd === item.qtdEsperada;</a:t>
            </a:r>
          </a:p>
          <a:p>
            <a:endParaRPr sz="1050">
              <a:solidFill>
                <a:srgbClr val="7DD3FC"/>
              </a:solidFill>
              <a:latin typeface="Courier New"/>
            </a:endParaRP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if (isAdmin || isCorreto) {                    // APROVADO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    await updateDoc(ref, { status: "SUCESSO", qtdContada: qtd });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    await addDoc(collection(db, "estoque_geral"), { ... });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    return { resultado: "SUCESSO" };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}</a:t>
            </a:r>
          </a:p>
          <a:p>
            <a:endParaRPr sz="1050">
              <a:solidFill>
                <a:srgbClr val="E2E8F0"/>
              </a:solidFill>
              <a:latin typeface="Courier New"/>
            </a:endParaRP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if (novaTentativa &gt;= 2) {                      // BLOQUEADO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    await updateDoc(ref, { status: "BLOQUEADO_AUDITORIA" });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    return { resultado: "BLOQUEADO" };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}</a:t>
            </a:r>
          </a:p>
          <a:p>
            <a:endParaRPr sz="1050">
              <a:solidFill>
                <a:srgbClr val="E2E8F0"/>
              </a:solidFill>
              <a:latin typeface="Courier New"/>
            </a:endParaRP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await updateDoc(ref, { status: "RECONTAGEM" }); // 1ª TENTATIVA</a:t>
            </a:r>
          </a:p>
          <a:p>
            <a:r>
              <a:rPr sz="1050">
                <a:solidFill>
                  <a:srgbClr val="7DD3FC"/>
                </a:solidFill>
                <a:latin typeface="Courier New"/>
              </a:rPr>
              <a:t>    return { resultado: "RECONTAGEM", tentativa: novaTentativa };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41732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MÁQUINA DE ESTADOS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783080"/>
            <a:ext cx="164592" cy="320040"/>
          </a:xfrm>
          <a:prstGeom prst="rect">
            <a:avLst/>
          </a:prstGeom>
          <a:solidFill>
            <a:srgbClr val="4A6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79" y="178308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6A8A"/>
                </a:solidFill>
                <a:latin typeface="Calibri"/>
              </a:rPr>
              <a:t>PENDENTE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84831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Estado inicial após import XML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488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455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2880360"/>
            <a:ext cx="164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28803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RECONTAGEM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1821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1ª divergência detectada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246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455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977639"/>
            <a:ext cx="16459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3977639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BLOQUEADO_AUDITORIA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27939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2ª divergência — aguarda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343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455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5074920"/>
            <a:ext cx="164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507492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SUCESSO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537667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  <a:latin typeface="Calibri"/>
              </a:rPr>
              <a:t>Aprovado e gravado no estoque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ACESSO E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Controle de perfis</a:t>
            </a:r>
          </a:p>
        </p:txBody>
      </p:sp>
      <p:sp>
        <p:nvSpPr>
          <p:cNvPr id="6" name="Block Arc 5"/>
          <p:cNvSpPr/>
          <p:nvPr/>
        </p:nvSpPr>
        <p:spPr>
          <a:xfrm>
            <a:off x="777240" y="1325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5074920" cy="3749039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  <a:latin typeface="Cambria"/>
              </a:rPr>
              <a:t>Admin</a:t>
            </a:r>
          </a:p>
        </p:txBody>
      </p:sp>
      <p:sp>
        <p:nvSpPr>
          <p:cNvPr id="9" name="Block Arc 8"/>
          <p:cNvSpPr/>
          <p:nvPr/>
        </p:nvSpPr>
        <p:spPr>
          <a:xfrm>
            <a:off x="1005840" y="2176272"/>
            <a:ext cx="457200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377440"/>
            <a:ext cx="54864" cy="54864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Importar XML de NF-e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2880360"/>
            <a:ext cx="54864" cy="54864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7889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Ver aba de Logs do sistema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383280"/>
            <a:ext cx="54864" cy="54864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32918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Gerenciar usuários (criar / remover)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886200"/>
            <a:ext cx="54864" cy="54864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379476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Auditar e aprovar itens bloqueados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389120"/>
            <a:ext cx="54864" cy="54864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8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Acesso total ao painel Fiscal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1508760"/>
            <a:ext cx="5074920" cy="3749039"/>
          </a:xfrm>
          <a:prstGeom prst="rect">
            <a:avLst/>
          </a:prstGeom>
          <a:solidFill>
            <a:srgbClr val="0D1E3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79" y="16642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0C4D8"/>
                </a:solidFill>
                <a:latin typeface="Cambria"/>
              </a:rPr>
              <a:t>Conferente</a:t>
            </a:r>
          </a:p>
        </p:txBody>
      </p:sp>
      <p:sp>
        <p:nvSpPr>
          <p:cNvPr id="22" name="Block Arc 21"/>
          <p:cNvSpPr/>
          <p:nvPr/>
        </p:nvSpPr>
        <p:spPr>
          <a:xfrm>
            <a:off x="6355079" y="2176272"/>
            <a:ext cx="457200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46519" y="2377440"/>
            <a:ext cx="54864" cy="54864"/>
          </a:xfrm>
          <a:prstGeom prst="ellipse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399" y="22860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Ver lista de itens pendentes</a:t>
            </a:r>
          </a:p>
        </p:txBody>
      </p:sp>
      <p:sp>
        <p:nvSpPr>
          <p:cNvPr id="25" name="Oval 24"/>
          <p:cNvSpPr/>
          <p:nvPr/>
        </p:nvSpPr>
        <p:spPr>
          <a:xfrm>
            <a:off x="6446519" y="2880360"/>
            <a:ext cx="54864" cy="54864"/>
          </a:xfrm>
          <a:prstGeom prst="ellipse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399" y="27889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Conferir quantidade e validade</a:t>
            </a:r>
          </a:p>
        </p:txBody>
      </p:sp>
      <p:sp>
        <p:nvSpPr>
          <p:cNvPr id="27" name="Oval 26"/>
          <p:cNvSpPr/>
          <p:nvPr/>
        </p:nvSpPr>
        <p:spPr>
          <a:xfrm>
            <a:off x="6446519" y="3383280"/>
            <a:ext cx="54864" cy="54864"/>
          </a:xfrm>
          <a:prstGeom prst="ellipse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399" y="32918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Ver status das conferências</a:t>
            </a:r>
          </a:p>
        </p:txBody>
      </p:sp>
      <p:sp>
        <p:nvSpPr>
          <p:cNvPr id="29" name="Oval 28"/>
          <p:cNvSpPr/>
          <p:nvPr/>
        </p:nvSpPr>
        <p:spPr>
          <a:xfrm>
            <a:off x="6446519" y="3886200"/>
            <a:ext cx="54864" cy="54864"/>
          </a:xfrm>
          <a:prstGeom prst="ellipse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29399" y="379476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Acesso restrito — sem gestão</a:t>
            </a:r>
          </a:p>
        </p:txBody>
      </p:sp>
      <p:sp>
        <p:nvSpPr>
          <p:cNvPr id="31" name="Oval 30"/>
          <p:cNvSpPr/>
          <p:nvPr/>
        </p:nvSpPr>
        <p:spPr>
          <a:xfrm>
            <a:off x="6446519" y="4389120"/>
            <a:ext cx="54864" cy="54864"/>
          </a:xfrm>
          <a:prstGeom prst="ellipse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399" y="429768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Não vê logs nem importação</a:t>
            </a:r>
          </a:p>
        </p:txBody>
      </p:sp>
      <p:sp>
        <p:nvSpPr>
          <p:cNvPr id="33" name="Block Arc 32"/>
          <p:cNvSpPr/>
          <p:nvPr/>
        </p:nvSpPr>
        <p:spPr>
          <a:xfrm>
            <a:off x="777240" y="54406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5778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IMPLEMENTAÇÃO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3387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Firebase Authentication gera o UID do usuário. O papel (role) é salvo no Firestore em /usuarios/{uid}. A UI lê o role no login e esconde ou exibe elementos dinamicamente — sem segundo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INFRAESTRUTURA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Tempo real com Firebase</a:t>
            </a:r>
          </a:p>
        </p:txBody>
      </p:sp>
      <p:sp>
        <p:nvSpPr>
          <p:cNvPr id="6" name="Block Arc 5"/>
          <p:cNvSpPr/>
          <p:nvPr/>
        </p:nvSpPr>
        <p:spPr>
          <a:xfrm>
            <a:off x="777240" y="1325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FLUXO DE DADOS EM TEMPO REAL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017520"/>
            <a:ext cx="1554480" cy="822960"/>
          </a:xfrm>
          <a:prstGeom prst="ellipse">
            <a:avLst/>
          </a:prstGeom>
          <a:solidFill>
            <a:srgbClr val="0D1E3A"/>
          </a:solidFill>
          <a:ln w="12700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3081527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Browser
(Admin)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1828800"/>
            <a:ext cx="1554480" cy="822960"/>
          </a:xfrm>
          <a:prstGeom prst="ellipse">
            <a:avLst/>
          </a:prstGeom>
          <a:solidFill>
            <a:srgbClr val="1A3455"/>
          </a:solidFill>
          <a:ln w="12700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892807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Firestore
/recebimentos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4206240"/>
            <a:ext cx="1554480" cy="822960"/>
          </a:xfrm>
          <a:prstGeom prst="ellipse">
            <a:avLst/>
          </a:prstGeom>
          <a:solidFill>
            <a:srgbClr val="1A3455"/>
          </a:solidFill>
          <a:ln w="12700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4270248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Firestore
/logs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3017520"/>
            <a:ext cx="1554480" cy="822960"/>
          </a:xfrm>
          <a:prstGeom prst="ellipse">
            <a:avLst/>
          </a:prstGeom>
          <a:solidFill>
            <a:srgbClr val="0D1E3A"/>
          </a:solidFill>
          <a:ln w="12700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78040" y="3081527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Browser
(Conferente)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0" y="3017520"/>
            <a:ext cx="1554480" cy="822960"/>
          </a:xfrm>
          <a:prstGeom prst="ellipse">
            <a:avLst/>
          </a:prstGeom>
          <a:solidFill>
            <a:srgbClr val="0A1E38"/>
          </a:solidFill>
          <a:ln w="12700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21240" y="3081527"/>
            <a:ext cx="1463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
KPIs</a:t>
            </a:r>
          </a:p>
        </p:txBody>
      </p:sp>
      <p:sp>
        <p:nvSpPr>
          <p:cNvPr id="18" name="Block Arc 17"/>
          <p:cNvSpPr/>
          <p:nvPr/>
        </p:nvSpPr>
        <p:spPr>
          <a:xfrm>
            <a:off x="2651760" y="2926080"/>
            <a:ext cx="1463040" cy="0"/>
          </a:xfrm>
          <a:prstGeom prst="blockArc">
            <a:avLst/>
          </a:prstGeom>
          <a:ln w="1524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7249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B00"/>
                </a:solidFill>
                <a:latin typeface="Calibri"/>
              </a:rPr>
              <a:t>importarXML()</a:t>
            </a:r>
          </a:p>
        </p:txBody>
      </p:sp>
      <p:sp>
        <p:nvSpPr>
          <p:cNvPr id="20" name="Block Arc 19"/>
          <p:cNvSpPr/>
          <p:nvPr/>
        </p:nvSpPr>
        <p:spPr>
          <a:xfrm>
            <a:off x="2651760" y="3749039"/>
            <a:ext cx="1463040" cy="0"/>
          </a:xfrm>
          <a:prstGeom prst="blockArc">
            <a:avLst/>
          </a:prstGeom>
          <a:ln w="15240">
            <a:solidFill>
              <a:srgbClr val="4A6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1760" y="35478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6A8A"/>
                </a:solidFill>
                <a:latin typeface="Calibri"/>
              </a:rPr>
              <a:t>registrarLog()</a:t>
            </a:r>
          </a:p>
        </p:txBody>
      </p:sp>
      <p:sp>
        <p:nvSpPr>
          <p:cNvPr id="22" name="Block Arc 21"/>
          <p:cNvSpPr/>
          <p:nvPr/>
        </p:nvSpPr>
        <p:spPr>
          <a:xfrm>
            <a:off x="5669280" y="2377440"/>
            <a:ext cx="1463040" cy="0"/>
          </a:xfrm>
          <a:prstGeom prst="blockArc">
            <a:avLst/>
          </a:prstGeom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0" y="217627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onSnapshot()</a:t>
            </a:r>
          </a:p>
        </p:txBody>
      </p:sp>
      <p:sp>
        <p:nvSpPr>
          <p:cNvPr id="24" name="Block Arc 23"/>
          <p:cNvSpPr/>
          <p:nvPr/>
        </p:nvSpPr>
        <p:spPr>
          <a:xfrm>
            <a:off x="5669280" y="3200400"/>
            <a:ext cx="1463040" cy="0"/>
          </a:xfrm>
          <a:prstGeom prst="blockArc">
            <a:avLst/>
          </a:prstGeom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0" y="299923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onSnapshot()</a:t>
            </a:r>
          </a:p>
        </p:txBody>
      </p:sp>
      <p:sp>
        <p:nvSpPr>
          <p:cNvPr id="26" name="Block Arc 25"/>
          <p:cNvSpPr/>
          <p:nvPr/>
        </p:nvSpPr>
        <p:spPr>
          <a:xfrm>
            <a:off x="8686800" y="3611880"/>
            <a:ext cx="1188720" cy="0"/>
          </a:xfrm>
          <a:prstGeom prst="blockArc">
            <a:avLst/>
          </a:prstGeom>
          <a:ln w="15240">
            <a:solidFill>
              <a:srgbClr val="4A6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34107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6A8A"/>
                </a:solidFill>
                <a:latin typeface="Calibri"/>
              </a:rPr>
              <a:t>atualiza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937760"/>
            <a:ext cx="6492240" cy="1600200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102352"/>
            <a:ext cx="61722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A6A8A"/>
                </a:solidFill>
                <a:latin typeface="Courier New"/>
              </a:rPr>
              <a:t>// UI se inscreve no Firestore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onSnapshot(query(collection(db, 'recebimentos'),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       orderBy('data', 'desc')), (snap) =&gt; {</a:t>
            </a:r>
          </a:p>
          <a:p>
            <a:r>
              <a:rPr sz="1050">
                <a:solidFill>
                  <a:srgbClr val="4A6A8A"/>
                </a:solidFill>
                <a:latin typeface="Courier New"/>
              </a:rPr>
              <a:t>    // chamado AUTOMATICAMENTE a cada mudança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    renderizarLista(snap);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});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074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Calibri"/>
              </a:rPr>
              <a:t>NÃO HÁ POLLING NEM REFRESH MANUAL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53492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Quando o admin importa um XML, o conferente vê os itens
aparecendo na tela automaticamente — sem F5.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200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DEPLOY 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Rodando o projeto</a:t>
            </a:r>
          </a:p>
        </p:txBody>
      </p:sp>
      <p:sp>
        <p:nvSpPr>
          <p:cNvPr id="6" name="Block Arc 5"/>
          <p:cNvSpPr/>
          <p:nvPr/>
        </p:nvSpPr>
        <p:spPr>
          <a:xfrm>
            <a:off x="777240" y="13258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LOCALMENTE (LIVE SERVER)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5120640" cy="2560320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4800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Courier New"/>
              </a:rPr>
              <a:t># VS Code → instale 'Live Server'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# Clique com botão direito em index.html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# → Open with Live Server</a:t>
            </a:r>
          </a:p>
          <a:p>
            <a:endParaRPr sz="1050">
              <a:solidFill>
                <a:srgbClr val="E2E8F0"/>
              </a:solidFill>
              <a:latin typeface="Courier New"/>
            </a:endParaRP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# Ou via Python: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cd stockflow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python -m http.server 5500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# Acesse: http://localhost:5500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PRODUÇÃO (FIREBASE HOSTING)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212080" cy="2560320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93392"/>
            <a:ext cx="4892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E2E8F0"/>
                </a:solidFill>
                <a:latin typeface="Courier New"/>
              </a:rPr>
              <a:t>npm install -g firebase-tools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firebase login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firebase deploy</a:t>
            </a:r>
          </a:p>
          <a:p>
            <a:endParaRPr sz="1050">
              <a:solidFill>
                <a:srgbClr val="E2E8F0"/>
              </a:solidFill>
              <a:latin typeface="Courier New"/>
            </a:endParaRP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# firebase.json já configurado: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# → SPA rewrites para index.html</a:t>
            </a:r>
          </a:p>
          <a:p>
            <a:r>
              <a:rPr sz="1050">
                <a:solidFill>
                  <a:srgbClr val="E2E8F0"/>
                </a:solidFill>
                <a:latin typeface="Courier New"/>
              </a:rPr>
              <a:t># → ignora node_modules e .dotfiles</a:t>
            </a:r>
          </a:p>
        </p:txBody>
      </p:sp>
      <p:sp>
        <p:nvSpPr>
          <p:cNvPr id="13" name="Block Arc 12"/>
          <p:cNvSpPr/>
          <p:nvPr/>
        </p:nvSpPr>
        <p:spPr>
          <a:xfrm>
            <a:off x="777240" y="461772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POR QUE NÃO FUNCIONA COM DUPLO CLIQUE?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47488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  <a:latin typeface="Calibri"/>
              </a:rPr>
              <a:t>ES Modules (import/export) são bloqueados pelo browser quando carregados via file:// por segurança (CORS). Um servidor HTTP local resolve isso — o Live Server do VS Code é a opção mais rápida.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49808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O que o
StockFlow entrega</a:t>
            </a:r>
          </a:p>
        </p:txBody>
      </p:sp>
      <p:sp>
        <p:nvSpPr>
          <p:cNvPr id="7" name="Block Arc 6"/>
          <p:cNvSpPr/>
          <p:nvPr/>
        </p:nvSpPr>
        <p:spPr>
          <a:xfrm>
            <a:off x="777240" y="2304288"/>
            <a:ext cx="576072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4964" y="2564892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Rastreabilidade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0720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Toda conferência tem usuário, data e número de tentativas gravados no Firestore.</a:t>
            </a:r>
          </a:p>
        </p:txBody>
      </p:sp>
      <p:sp>
        <p:nvSpPr>
          <p:cNvPr id="11" name="Oval 10"/>
          <p:cNvSpPr/>
          <p:nvPr/>
        </p:nvSpPr>
        <p:spPr>
          <a:xfrm>
            <a:off x="854964" y="3525012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Regras de negócio claras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673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2 tentativas antes do bloqueio. Admin pode auditar a qualquer momento.</a:t>
            </a:r>
          </a:p>
        </p:txBody>
      </p:sp>
      <p:sp>
        <p:nvSpPr>
          <p:cNvPr id="14" name="Oval 13"/>
          <p:cNvSpPr/>
          <p:nvPr/>
        </p:nvSpPr>
        <p:spPr>
          <a:xfrm>
            <a:off x="854964" y="4485132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Tempo real sem fricção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274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onSnapshot mantém todos os usuários sincronizados automaticamente.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" y="5445252"/>
            <a:ext cx="64008" cy="6400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Sem servidor próprio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687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100% serverless: Firebase cuida de auth, banco e hospedagem.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82296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A6A8A"/>
                </a:solidFill>
                <a:latin typeface="Calibri"/>
              </a:rPr>
              <a:t>PRÓXIMOS PASSOS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097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Roadmap</a:t>
            </a:r>
          </a:p>
        </p:txBody>
      </p:sp>
      <p:sp>
        <p:nvSpPr>
          <p:cNvPr id="22" name="Oval 21"/>
          <p:cNvSpPr/>
          <p:nvPr/>
        </p:nvSpPr>
        <p:spPr>
          <a:xfrm>
            <a:off x="7178040" y="1737360"/>
            <a:ext cx="365760" cy="365760"/>
          </a:xfrm>
          <a:prstGeom prst="ellipse">
            <a:avLst/>
          </a:prstGeom>
          <a:solidFill>
            <a:srgbClr val="1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78040" y="17556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A8A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176479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Regras de segurança no Firestore (fechar o acesso público)</a:t>
            </a:r>
          </a:p>
        </p:txBody>
      </p:sp>
      <p:sp>
        <p:nvSpPr>
          <p:cNvPr id="25" name="Oval 24"/>
          <p:cNvSpPr/>
          <p:nvPr/>
        </p:nvSpPr>
        <p:spPr>
          <a:xfrm>
            <a:off x="7178040" y="2542032"/>
            <a:ext cx="365760" cy="365760"/>
          </a:xfrm>
          <a:prstGeom prst="ellipse">
            <a:avLst/>
          </a:prstGeom>
          <a:solidFill>
            <a:srgbClr val="1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256032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A8A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2569463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Relatório de conferência em PDF por lote</a:t>
            </a:r>
          </a:p>
        </p:txBody>
      </p:sp>
      <p:sp>
        <p:nvSpPr>
          <p:cNvPr id="28" name="Oval 27"/>
          <p:cNvSpPr/>
          <p:nvPr/>
        </p:nvSpPr>
        <p:spPr>
          <a:xfrm>
            <a:off x="7178040" y="3346704"/>
            <a:ext cx="365760" cy="365760"/>
          </a:xfrm>
          <a:prstGeom prst="ellipse">
            <a:avLst/>
          </a:prstGeom>
          <a:solidFill>
            <a:srgbClr val="1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336499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A8A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3374136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Dashboard com gráficos de divergência por fornecedor</a:t>
            </a:r>
          </a:p>
        </p:txBody>
      </p:sp>
      <p:sp>
        <p:nvSpPr>
          <p:cNvPr id="31" name="Oval 30"/>
          <p:cNvSpPr/>
          <p:nvPr/>
        </p:nvSpPr>
        <p:spPr>
          <a:xfrm>
            <a:off x="7178040" y="4151376"/>
            <a:ext cx="365760" cy="365760"/>
          </a:xfrm>
          <a:prstGeom prst="ellipse">
            <a:avLst/>
          </a:prstGeom>
          <a:solidFill>
            <a:srgbClr val="1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78040" y="4169663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A8A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4178808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Notificações por e-mail ao bloquear um item</a:t>
            </a:r>
          </a:p>
        </p:txBody>
      </p:sp>
      <p:sp>
        <p:nvSpPr>
          <p:cNvPr id="34" name="Oval 33"/>
          <p:cNvSpPr/>
          <p:nvPr/>
        </p:nvSpPr>
        <p:spPr>
          <a:xfrm>
            <a:off x="7178040" y="4956048"/>
            <a:ext cx="365760" cy="365760"/>
          </a:xfrm>
          <a:prstGeom prst="ellipse">
            <a:avLst/>
          </a:prstGeom>
          <a:solidFill>
            <a:srgbClr val="1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78040" y="497433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6A8A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4983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  <a:latin typeface="Calibri"/>
              </a:rPr>
              <a:t>Leitor de QR Code para conferência mobile</a:t>
            </a:r>
          </a:p>
        </p:txBody>
      </p:sp>
      <p:sp>
        <p:nvSpPr>
          <p:cNvPr id="37" name="Block Arc 36"/>
          <p:cNvSpPr/>
          <p:nvPr/>
        </p:nvSpPr>
        <p:spPr>
          <a:xfrm>
            <a:off x="777240" y="6126480"/>
            <a:ext cx="10607040" cy="0"/>
          </a:xfrm>
          <a:prstGeom prst="blockArc">
            <a:avLst/>
          </a:prstGeom>
          <a:noFill/>
          <a:ln w="9525">
            <a:solidFill>
              <a:srgbClr val="1A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62362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6A8A"/>
                </a:solidFill>
                <a:latin typeface="Calibri"/>
              </a:rPr>
              <a:t>StockFlow · Apresentação Técnica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2362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A6A8A"/>
                </a:solidFill>
                <a:latin typeface="Calibri"/>
              </a:rPr>
              <a:t>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1821</Words>
  <Application>Microsoft Macintosh PowerPoint</Application>
  <PresentationFormat>Personalizar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 BARBOSA</cp:lastModifiedBy>
  <cp:revision>3</cp:revision>
  <dcterms:created xsi:type="dcterms:W3CDTF">2013-01-27T09:14:16Z</dcterms:created>
  <dcterms:modified xsi:type="dcterms:W3CDTF">2026-06-22T20:29:50Z</dcterms:modified>
  <cp:category/>
</cp:coreProperties>
</file>